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64" r:id="rId3"/>
  </p:sldIdLst>
  <p:sldSz cx="12801600" cy="9601200" type="A3"/>
  <p:notesSz cx="9926638" cy="1435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768B"/>
    <a:srgbClr val="8EAD98"/>
    <a:srgbClr val="176B72"/>
    <a:srgbClr val="000000"/>
    <a:srgbClr val="F6F4EF"/>
    <a:srgbClr val="A78DA8"/>
    <a:srgbClr val="292D30"/>
    <a:srgbClr val="6E9FB5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6" autoAdjust="0"/>
    <p:restoredTop sz="94657" autoAdjust="0"/>
  </p:normalViewPr>
  <p:slideViewPr>
    <p:cSldViewPr snapToGrid="0">
      <p:cViewPr varScale="1">
        <p:scale>
          <a:sx n="77" d="100"/>
          <a:sy n="77" d="100"/>
        </p:scale>
        <p:origin x="1756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FEEBD5D4-CCD3-4C46-8565-EE788852B450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33550" y="1793875"/>
            <a:ext cx="64595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DDB616A4-D880-4F8D-9E07-1C4AF590E9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216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0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ci-lab-um/heuristics-for-test-tool-design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616A4-D880-4F8D-9E07-1C4AF590E92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617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Idea- framework description.</a:t>
            </a:r>
          </a:p>
          <a:p>
            <a:r>
              <a:rPr lang="en-US" b="0" dirty="0"/>
              <a:t>A) The poster header with logo and straplines:</a:t>
            </a:r>
          </a:p>
          <a:p>
            <a:r>
              <a:rPr lang="en-US" b="0" dirty="0"/>
              <a:t>1. the framework and its contents are described in full on the GitHub repository</a:t>
            </a: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: </a:t>
            </a:r>
            <a:r>
              <a:rPr lang="en-US" sz="1600" b="0" dirty="0">
                <a:solidFill>
                  <a:srgbClr val="176B72"/>
                </a:solidFill>
                <a:latin typeface="Trebuchet MS"/>
                <a:hlinkClick r:id="rId3"/>
              </a:rPr>
              <a:t>https://github.com/hci-lab-um/heuristics-for-test-tool-design</a:t>
            </a:r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2. idea-t was designed by Dr Isabel Evans, at University of Malta.</a:t>
            </a: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3. idea-t stands for “influencing the design-evaluation and acquisition of tools to support testing.</a:t>
            </a: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4. The tagline for the poster is “Better Questions. Better Decisions”</a:t>
            </a: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5. idea-t has 3 themes: Why? Who? And Context?</a:t>
            </a: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6. Each theme has a number of heuristics presented as questions, example activities that help answer those questions, relevant quality in use </a:t>
            </a:r>
            <a:r>
              <a:rPr lang="en-US" sz="1600" b="0" dirty="0" err="1">
                <a:solidFill>
                  <a:srgbClr val="176B72"/>
                </a:solidFill>
                <a:latin typeface="Trebuchet MS"/>
              </a:rPr>
              <a:t>attrbutes</a:t>
            </a: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, relevant product quality attributes, keywords, and alternative questions.</a:t>
            </a: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7. Theme Why has 1 heuristic, H01. Theme Who has 5 heuristics, H02 to H06. Theme Context has 6 heuristics, H07 to H12.</a:t>
            </a: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8. These are shown on the poster in a grid layout, bulleted below by theme. Sometimes an activity, attribute, or alternative applies to more than one heuristic so you will see repeats in the bulleted list below.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B) The poster content (themes are shown left to right and heuristics within themes left to right):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Theme 1. Why?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H01: why is this tool needed?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SWOT, Gap analysis, Stakeholder mapping,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Freedom from risk;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user goals, appropriateness;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Why?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Why else? Why not?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Theme 2 Who?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H02: who will use or be affected by this tool?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persona and archetype modelling, journey mapping, stakeholder mapping,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Satisfaction;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user goals, appropriateness, recognizability; 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Who?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Who else? Who not?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H03: What previous experiences do people bring to this tool?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persona and archetype modelling, journey mapping, training and support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Satisfaction, Effectiveness;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Learnability, appropriateness, recognizability, user error protection;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experience?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What else? What not? 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H04: What communication needs or preferences do people have?</a:t>
            </a:r>
          </a:p>
          <a:p>
            <a:pPr marL="823417" marR="0" lvl="1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MS Inclusive design, persona and archetype modelling, journey mapping, training and support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Satisfaction, Effectiveness, Flexibility;</a:t>
            </a:r>
          </a:p>
          <a:p>
            <a:pPr marL="823417" marR="0" lvl="1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Learnability, accessibility, recognizability, user error protection;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communication?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How else? How not? Needs (accessibility) and Preferences (styles).;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H05: </a:t>
            </a:r>
            <a:r>
              <a:rPr lang="en-GB" sz="1600" b="0" dirty="0">
                <a:solidFill>
                  <a:srgbClr val="292D30"/>
                </a:solidFill>
                <a:latin typeface="Arial Narrow" panose="020B0606020202030204" pitchFamily="34" charset="0"/>
              </a:rPr>
              <a:t>Do people want “tool mastery” or “task completion” if learning to use the tool?</a:t>
            </a:r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MS Inclusive design, persona and archetype modelling, journey mapping, training and support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Satisfaction, Effectiveness, Flexibility;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Learnability, accessibility, recognizability, user error protection;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mastery or task?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How else? How not? Needs (accessibility) and Preferences (styles).</a:t>
            </a:r>
          </a:p>
          <a:p>
            <a:pPr marL="537667" lvl="1" indent="0">
              <a:buFont typeface="Arial" panose="020B0604020202020204" pitchFamily="34" charset="0"/>
              <a:buNone/>
            </a:pPr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H06: </a:t>
            </a:r>
            <a:r>
              <a:rPr lang="en-GB" sz="1600" b="0" dirty="0">
                <a:solidFill>
                  <a:srgbClr val="292D30"/>
                </a:solidFill>
                <a:latin typeface="Arial Narrow" panose="020B0606020202030204" pitchFamily="34" charset="0"/>
              </a:rPr>
              <a:t>What learning preferences do people have</a:t>
            </a:r>
            <a:r>
              <a:rPr lang="en-US" sz="1600" b="0" dirty="0">
                <a:solidFill>
                  <a:srgbClr val="292D30"/>
                </a:solidFill>
                <a:latin typeface="Arial Narrow" panose="020B0606020202030204" pitchFamily="34" charset="0"/>
              </a:rPr>
              <a:t>? </a:t>
            </a:r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MS Inclusive design, persona and archetype modelling, journey mapping, training and support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Satisfaction, Effectiveness, Flexibility;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Learnability, user error protection;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learning preference?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How else? How not? Needs (accessibility) and Preferences (styles).</a:t>
            </a: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r>
              <a:rPr lang="en-US" sz="1600" b="0" dirty="0">
                <a:solidFill>
                  <a:srgbClr val="176B72"/>
                </a:solidFill>
                <a:latin typeface="Trebuchet MS"/>
              </a:rPr>
              <a:t>Theme 3: Context?</a:t>
            </a:r>
          </a:p>
          <a:p>
            <a:endParaRPr lang="en-GB" dirty="0"/>
          </a:p>
          <a:p>
            <a:pPr marL="285750" marR="0" lvl="0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dirty="0">
                <a:solidFill>
                  <a:srgbClr val="176B72"/>
                </a:solidFill>
                <a:latin typeface="Trebuchet MS"/>
              </a:rPr>
              <a:t>Heuristic: H07: </a:t>
            </a:r>
            <a:r>
              <a:rPr lang="en-US" sz="1400" b="0" dirty="0">
                <a:solidFill>
                  <a:srgbClr val="292D30"/>
                </a:solidFill>
                <a:latin typeface="Arial Narrow" panose="020B0606020202030204" pitchFamily="34" charset="0"/>
              </a:rPr>
              <a:t>Where will the tool be used?</a:t>
            </a:r>
            <a:endParaRPr lang="en-US" sz="1400" b="0" dirty="0">
              <a:solidFill>
                <a:srgbClr val="176B72"/>
              </a:solidFill>
              <a:latin typeface="Trebuchet MS"/>
            </a:endParaRP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176B72"/>
                </a:solidFill>
                <a:latin typeface="Trebuchet MS"/>
              </a:rPr>
              <a:t>Activities: Persona and archetype modelling, journey mapping, infrastructure and supported platforms plan, service modelling, ecosystem modelling, service blueprint, training and support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176B72"/>
                </a:solidFill>
                <a:latin typeface="Trebuchet MS"/>
              </a:rPr>
              <a:t>Quality in Use: Context coverage, effectiveness;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176B72"/>
                </a:solidFill>
                <a:latin typeface="Trebuchet MS"/>
              </a:rPr>
              <a:t>Product quality: Operability, appropriateness, user goals, maintainability, compatibility, functionality;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176B72"/>
                </a:solidFill>
                <a:latin typeface="Trebuchet MS"/>
              </a:rPr>
              <a:t>Keyword: Where?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176B72"/>
                </a:solidFill>
                <a:latin typeface="Trebuchet MS"/>
              </a:rPr>
              <a:t>Alternatives: Where else? Where not?</a:t>
            </a:r>
          </a:p>
          <a:p>
            <a:endParaRPr lang="en-GB" dirty="0"/>
          </a:p>
          <a:p>
            <a:endParaRPr lang="en-GB" dirty="0"/>
          </a:p>
          <a:p>
            <a:pPr marL="285750" marR="0" lvl="0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H08: </a:t>
            </a:r>
            <a:r>
              <a:rPr lang="en-US" sz="1600" b="0" dirty="0">
                <a:solidFill>
                  <a:srgbClr val="292D30"/>
                </a:solidFill>
                <a:latin typeface="Arial Narrow" panose="020B0606020202030204" pitchFamily="34" charset="0"/>
              </a:rPr>
              <a:t>What workflows is the tool part of?</a:t>
            </a:r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823417" marR="0" lvl="1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Persona and archetype modelling, journey mapping, infrastructure and supported platforms plan, service modelling, ecosystem modelling, service blueprint, training and support plan, business case;</a:t>
            </a:r>
          </a:p>
          <a:p>
            <a:pPr marL="823417" marR="0" lvl="1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Context coverage, effectiveness;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Operability, appropriateness, user goals, recognizability, maintainability, security, compatibility, functionality;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Workflows?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Where else? Where not?</a:t>
            </a:r>
          </a:p>
          <a:p>
            <a:endParaRPr lang="en-GB" dirty="0"/>
          </a:p>
          <a:p>
            <a:pPr marL="285750" marR="0" lvl="0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H09: </a:t>
            </a:r>
            <a:r>
              <a:rPr lang="en-US" sz="1600" b="0" dirty="0">
                <a:solidFill>
                  <a:srgbClr val="292D30"/>
                </a:solidFill>
                <a:latin typeface="Arial Narrow" panose="020B0606020202030204" pitchFamily="34" charset="0"/>
              </a:rPr>
              <a:t>What risks are associated with the workflows the tool is part of?</a:t>
            </a:r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823417" marR="0" lvl="1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Persona and archetype modelling, journey mapping, infrastructure and supported platforms plan, team shapes and autonomy, risk storming, service blueprint, training and support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Context coverage, freedom from risk;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operability, appropriateness, accessibility, maintainability, security, performance, reliability, scalability;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Risk?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What else? What not?</a:t>
            </a:r>
          </a:p>
          <a:p>
            <a:endParaRPr lang="en-GB" dirty="0"/>
          </a:p>
          <a:p>
            <a:pPr marL="285750" marR="0" lvl="0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H10: </a:t>
            </a:r>
            <a:r>
              <a:rPr lang="en-GB" sz="1600" b="0" dirty="0">
                <a:solidFill>
                  <a:srgbClr val="292D30"/>
                </a:solidFill>
                <a:latin typeface="Arial Narrow" panose="020B0606020202030204" pitchFamily="34" charset="0"/>
              </a:rPr>
              <a:t>What autonomy of work styles is allowed in those workflows and teams</a:t>
            </a:r>
            <a:r>
              <a:rPr lang="en-US" sz="1600" b="0" dirty="0">
                <a:solidFill>
                  <a:srgbClr val="292D30"/>
                </a:solidFill>
                <a:latin typeface="Arial Narrow" panose="020B0606020202030204" pitchFamily="34" charset="0"/>
              </a:rPr>
              <a:t>?</a:t>
            </a:r>
            <a:endParaRPr lang="en-US" sz="1600" b="0" dirty="0">
              <a:solidFill>
                <a:srgbClr val="176B72"/>
              </a:solidFill>
              <a:latin typeface="Trebuchet MS"/>
            </a:endParaRPr>
          </a:p>
          <a:p>
            <a:pPr marL="823417" marR="0" lvl="1" indent="-285750" algn="l" defTabSz="10753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Persona and archetype modelling, journey mapping, infrastructure and supported platforms plan, team shapes and autonomy, risk storming, training and support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context coverage, satisfaction, flexibility;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operability, appropriateness, accessibility, maintainability;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Autonomy?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How else? How not?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H11: When will the tool be used?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Journey mapping; infrastructure and supported platforms plan, maintenance plan, de-commissioning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Context coverage, efficiency;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operability, appropriateness, recognizability, maintainability, performance, compatibility, reliability;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When?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When else? When not?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Heuristic: H12: How long will the tool be used?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Activities: Journey mapping; infrastructure and supported platforms plan, maintenance plan, de-commissioning plan, business case;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Quality in Use: Context coverage, freedom from risk;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Product quality: maintainability, portability, scalability;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Keyword: How Long?</a:t>
            </a:r>
          </a:p>
          <a:p>
            <a:pPr marL="823417" lvl="1" indent="-285750"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176B72"/>
                </a:solidFill>
                <a:latin typeface="Trebuchet MS"/>
              </a:rPr>
              <a:t>Alternatives: When else? When not?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616A4-D880-4F8D-9E07-1C4AF590E92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17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73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72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69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09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15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827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74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81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93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68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975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EFEE0-AFFA-4723-A5DF-3FB2DC540BFF}" type="datetimeFigureOut">
              <a:rPr lang="en-GB" smtClean="0"/>
              <a:t>26/10/2026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5D539-FD62-4EEB-AB6F-E6FED2C5F4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94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ci-lab-um/heuristics-for-test-tool-desig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Idea-t v2 Poster&#10;sized to A3 landscape ">
            <a:extLst>
              <a:ext uri="{FF2B5EF4-FFF2-40B4-BE49-F238E27FC236}">
                <a16:creationId xmlns:a16="http://schemas.microsoft.com/office/drawing/2014/main" id="{0AC23AE9-198E-CA03-F34D-5C579EE6B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Idea-t v2 Poster</a:t>
            </a:r>
            <a:br>
              <a:rPr lang="en-US" dirty="0"/>
            </a:br>
            <a:r>
              <a:rPr lang="en-US" dirty="0"/>
              <a:t>sized to A3 landscape </a:t>
            </a:r>
            <a:endParaRPr lang="en-GB" dirty="0"/>
          </a:p>
        </p:txBody>
      </p:sp>
      <p:sp>
        <p:nvSpPr>
          <p:cNvPr id="3" name="Subtitle 2" descr="Sept2026&#10;&#10;Project as slide show &#10;or print to A3 colour to make a poster&#10;The notes for the side with the poster have the poster contents as a bulleted list for people who are using screen readers, or other accessibility tools, or who prefer a text version of the graphic.&#10;">
            <a:extLst>
              <a:ext uri="{FF2B5EF4-FFF2-40B4-BE49-F238E27FC236}">
                <a16:creationId xmlns:a16="http://schemas.microsoft.com/office/drawing/2014/main" id="{56797548-EDFE-58A2-0038-7D53FDFA5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Sept2026</a:t>
            </a:r>
          </a:p>
          <a:p>
            <a:endParaRPr lang="en-US" dirty="0"/>
          </a:p>
          <a:p>
            <a:r>
              <a:rPr lang="en-US" dirty="0"/>
              <a:t>Project as slide show </a:t>
            </a:r>
          </a:p>
          <a:p>
            <a:r>
              <a:rPr lang="en-US" dirty="0"/>
              <a:t>or print to A3 </a:t>
            </a:r>
            <a:r>
              <a:rPr lang="en-US" dirty="0" err="1"/>
              <a:t>colour</a:t>
            </a:r>
            <a:r>
              <a:rPr lang="en-US" dirty="0"/>
              <a:t> to make a poster</a:t>
            </a:r>
          </a:p>
          <a:p>
            <a:r>
              <a:rPr lang="en-US" dirty="0"/>
              <a:t>The notes for the side with the poster have the poster contents as a bulleted list for people who are using screen readers, or other accessibility tools, or who prefer a text version of the graphic.</a:t>
            </a:r>
          </a:p>
          <a:p>
            <a:r>
              <a:rPr lang="en-US" dirty="0"/>
              <a:t>That text is also available on the Downloads section of the idea-t GitHub repository as a txt file: </a:t>
            </a:r>
          </a:p>
          <a:p>
            <a:r>
              <a:rPr lang="en-GB" dirty="0"/>
              <a:t>https://github.com/hci-lab-um/heuristics-for-test-tool-design/blob/main/Downloads/Idea-t%20poster%20as%20a%20bulleted%20list.txt</a:t>
            </a:r>
          </a:p>
        </p:txBody>
      </p:sp>
    </p:spTree>
    <p:extLst>
      <p:ext uri="{BB962C8B-B14F-4D97-AF65-F5344CB8AC3E}">
        <p14:creationId xmlns:p14="http://schemas.microsoft.com/office/powerpoint/2010/main" val="215956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The poster in the omage is described in bulllet points in the slide notes.">
            <a:extLst>
              <a:ext uri="{FF2B5EF4-FFF2-40B4-BE49-F238E27FC236}">
                <a16:creationId xmlns:a16="http://schemas.microsoft.com/office/drawing/2014/main" id="{0284038D-7572-58C5-3976-0BE3C1B23D24}"/>
              </a:ext>
            </a:extLst>
          </p:cNvPr>
          <p:cNvGrpSpPr/>
          <p:nvPr/>
        </p:nvGrpSpPr>
        <p:grpSpPr>
          <a:xfrm>
            <a:off x="-7968" y="-7861"/>
            <a:ext cx="14664488" cy="9530790"/>
            <a:chOff x="-24594" y="-7861"/>
            <a:chExt cx="14664488" cy="9530790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B574ED6-63DF-B3BE-1C7E-8C1CFACF9D9C}"/>
                </a:ext>
              </a:extLst>
            </p:cNvPr>
            <p:cNvSpPr/>
            <p:nvPr/>
          </p:nvSpPr>
          <p:spPr>
            <a:xfrm rot="16200000">
              <a:off x="-294593" y="1641518"/>
              <a:ext cx="1224000" cy="684000"/>
            </a:xfrm>
            <a:prstGeom prst="roundRect">
              <a:avLst/>
            </a:prstGeom>
            <a:solidFill>
              <a:srgbClr val="176B72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F6F4EF"/>
                  </a:solidFill>
                  <a:latin typeface="Arial Narrow" panose="020B0606020202030204" pitchFamily="34" charset="0"/>
                </a:rPr>
                <a:t>Heuristics in Themes</a:t>
              </a:r>
              <a:endParaRPr lang="en-GB" sz="1200" b="1" dirty="0">
                <a:solidFill>
                  <a:srgbClr val="F6F4EF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56CAA5F-1E96-2BF1-9E4A-96093027D04B}"/>
                </a:ext>
              </a:extLst>
            </p:cNvPr>
            <p:cNvSpPr/>
            <p:nvPr/>
          </p:nvSpPr>
          <p:spPr>
            <a:xfrm>
              <a:off x="1733966" y="521914"/>
              <a:ext cx="5220000" cy="610408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23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Who?</a:t>
              </a:r>
              <a:endParaRPr lang="en-GB" sz="2223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106C72FD-C92E-F650-A01F-57A2C3073DE8}"/>
                </a:ext>
              </a:extLst>
            </p:cNvPr>
            <p:cNvSpPr/>
            <p:nvPr/>
          </p:nvSpPr>
          <p:spPr>
            <a:xfrm rot="16200000">
              <a:off x="-60594" y="593462"/>
              <a:ext cx="756000" cy="684000"/>
            </a:xfrm>
            <a:prstGeom prst="roundRect">
              <a:avLst/>
            </a:prstGeom>
            <a:solidFill>
              <a:srgbClr val="176B72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F6F4EF"/>
                  </a:solidFill>
                  <a:latin typeface="Arial Narrow" panose="020B0606020202030204" pitchFamily="34" charset="0"/>
                </a:rPr>
                <a:t> Themes</a:t>
              </a:r>
              <a:endParaRPr lang="en-GB" sz="1200" b="1" dirty="0">
                <a:solidFill>
                  <a:srgbClr val="F6F4EF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6CB8818-9633-C95A-A126-4BE3CC4FE4CE}"/>
                </a:ext>
              </a:extLst>
            </p:cNvPr>
            <p:cNvSpPr/>
            <p:nvPr/>
          </p:nvSpPr>
          <p:spPr>
            <a:xfrm>
              <a:off x="776068" y="1041718"/>
              <a:ext cx="900000" cy="1584000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H01 Why is this tool needed? 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D993B7E4-1543-95CF-4070-69CD920BCCD4}"/>
                </a:ext>
              </a:extLst>
            </p:cNvPr>
            <p:cNvSpPr/>
            <p:nvPr/>
          </p:nvSpPr>
          <p:spPr>
            <a:xfrm>
              <a:off x="1733966" y="1041718"/>
              <a:ext cx="5220000" cy="1584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H02 Who will use or be affected by this tool? 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H03 </a:t>
              </a:r>
              <a:r>
                <a:rPr lang="en-GB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previous experiences do people bring to this tool</a:t>
              </a:r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H04 </a:t>
              </a:r>
              <a:r>
                <a:rPr lang="en-GB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communication needs or preferences do people have</a:t>
              </a:r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H05 </a:t>
              </a:r>
              <a:r>
                <a:rPr lang="en-GB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Do people want “tool mastery” or “task completion” if learning to use the tool</a:t>
              </a:r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H06 </a:t>
              </a:r>
              <a:r>
                <a:rPr lang="en-GB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learning preferences do people have</a:t>
              </a:r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? 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16CF4867-E378-54B9-DBEB-B1ED7A382119}"/>
                </a:ext>
              </a:extLst>
            </p:cNvPr>
            <p:cNvSpPr/>
            <p:nvPr/>
          </p:nvSpPr>
          <p:spPr>
            <a:xfrm>
              <a:off x="776068" y="521914"/>
              <a:ext cx="900000" cy="610408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23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Why?</a:t>
              </a:r>
              <a:endParaRPr lang="en-GB" sz="2223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04F5CAE-B0EA-4461-8C67-D9534428738E}"/>
                </a:ext>
              </a:extLst>
            </p:cNvPr>
            <p:cNvSpPr/>
            <p:nvPr/>
          </p:nvSpPr>
          <p:spPr>
            <a:xfrm>
              <a:off x="6994063" y="521914"/>
              <a:ext cx="5760000" cy="610408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23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Context?</a:t>
              </a:r>
              <a:endParaRPr lang="en-GB" sz="2223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1" name="Rectangle: Rounded Corners 60" descr="Slide notes hold a bulleted list description of the poster, reading from top to bottom for each heuristics within each theme.">
              <a:extLst>
                <a:ext uri="{FF2B5EF4-FFF2-40B4-BE49-F238E27FC236}">
                  <a16:creationId xmlns:a16="http://schemas.microsoft.com/office/drawing/2014/main" id="{757C9167-A3DE-34C4-E431-DD91809875FA}"/>
                </a:ext>
              </a:extLst>
            </p:cNvPr>
            <p:cNvSpPr/>
            <p:nvPr/>
          </p:nvSpPr>
          <p:spPr>
            <a:xfrm>
              <a:off x="6994063" y="1041718"/>
              <a:ext cx="5760000" cy="1584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H07 Where will the tool be used?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H08 What workflows is the tool part of?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H09 What risks are associated with the workflows the tool is part of?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H10 </a:t>
              </a:r>
              <a:r>
                <a:rPr lang="en-GB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autonomy of work styles is allowed in those workflows and teams</a:t>
              </a:r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H11 When will the tool used?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H12 How long will the tool be used?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A27BB12B-A94C-184B-AFBB-A09766D18C0D}"/>
                </a:ext>
              </a:extLst>
            </p:cNvPr>
            <p:cNvSpPr/>
            <p:nvPr/>
          </p:nvSpPr>
          <p:spPr>
            <a:xfrm>
              <a:off x="799368" y="2654270"/>
              <a:ext cx="11844000" cy="1980000"/>
            </a:xfrm>
            <a:prstGeom prst="roundRect">
              <a:avLst/>
            </a:prstGeom>
            <a:solidFill>
              <a:srgbClr val="F6F4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sz="2223" b="1" dirty="0">
                <a:solidFill>
                  <a:sysClr val="windowText" lastClr="00000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A431C8C-E682-9BB7-1A40-275846D4C2AF}"/>
                </a:ext>
              </a:extLst>
            </p:cNvPr>
            <p:cNvSpPr/>
            <p:nvPr/>
          </p:nvSpPr>
          <p:spPr>
            <a:xfrm rot="16200000">
              <a:off x="-672593" y="3293615"/>
              <a:ext cx="1980000" cy="684000"/>
            </a:xfrm>
            <a:prstGeom prst="roundRect">
              <a:avLst/>
            </a:prstGeom>
            <a:solidFill>
              <a:srgbClr val="176B72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rgbClr val="F6F4EF"/>
                  </a:solidFill>
                  <a:latin typeface="Arial Narrow" panose="020B0606020202030204" pitchFamily="34" charset="0"/>
                </a:rPr>
                <a:t>Example </a:t>
              </a:r>
              <a:r>
                <a:rPr lang="en-US" sz="1200" b="1" dirty="0">
                  <a:solidFill>
                    <a:srgbClr val="F6F4EF"/>
                  </a:solidFill>
                  <a:latin typeface="Arial Narrow" panose="020B0606020202030204" pitchFamily="34" charset="0"/>
                </a:rPr>
                <a:t>Activities</a:t>
              </a:r>
              <a:endParaRPr lang="en-GB" sz="1200" b="1" dirty="0">
                <a:solidFill>
                  <a:srgbClr val="F6F4EF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58F5E49-4B6E-617F-0E7E-01718D4B24C7}"/>
                </a:ext>
              </a:extLst>
            </p:cNvPr>
            <p:cNvSpPr/>
            <p:nvPr/>
          </p:nvSpPr>
          <p:spPr>
            <a:xfrm>
              <a:off x="776068" y="2702238"/>
              <a:ext cx="900436" cy="216000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SWOT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F2E90864-0261-F18C-DB47-3CF8096E4998}"/>
                </a:ext>
              </a:extLst>
            </p:cNvPr>
            <p:cNvSpPr/>
            <p:nvPr/>
          </p:nvSpPr>
          <p:spPr>
            <a:xfrm>
              <a:off x="10748938" y="3879653"/>
              <a:ext cx="1891198" cy="21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Maintenance Plan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3718DA7-5058-2B22-36D7-CC670EF8FC74}"/>
                </a:ext>
              </a:extLst>
            </p:cNvPr>
            <p:cNvSpPr/>
            <p:nvPr/>
          </p:nvSpPr>
          <p:spPr>
            <a:xfrm>
              <a:off x="10748938" y="4134799"/>
              <a:ext cx="1891198" cy="21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De-commissioning Plan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92C4C62A-9410-6F57-CA5A-AB250C799B8F}"/>
                </a:ext>
              </a:extLst>
            </p:cNvPr>
            <p:cNvSpPr/>
            <p:nvPr/>
          </p:nvSpPr>
          <p:spPr>
            <a:xfrm>
              <a:off x="6994063" y="3180651"/>
              <a:ext cx="5680414" cy="21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Infrastructure and Supported Platforms Plan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D320E0F0-814C-B199-D684-1FCF3014AA3F}"/>
                </a:ext>
              </a:extLst>
            </p:cNvPr>
            <p:cNvSpPr/>
            <p:nvPr/>
          </p:nvSpPr>
          <p:spPr>
            <a:xfrm>
              <a:off x="1733966" y="2700160"/>
              <a:ext cx="8508791" cy="216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Persona and Archetype Modelling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17B698C9-9D90-BDC3-A565-7C66F110F769}"/>
                </a:ext>
              </a:extLst>
            </p:cNvPr>
            <p:cNvSpPr/>
            <p:nvPr/>
          </p:nvSpPr>
          <p:spPr>
            <a:xfrm>
              <a:off x="1733966" y="2941488"/>
              <a:ext cx="10482937" cy="216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Journey Mapping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4D7F0D9F-63FC-426B-21EF-3CA7C439C0EF}"/>
                </a:ext>
              </a:extLst>
            </p:cNvPr>
            <p:cNvSpPr/>
            <p:nvPr/>
          </p:nvSpPr>
          <p:spPr>
            <a:xfrm>
              <a:off x="2767255" y="4133124"/>
              <a:ext cx="7692960" cy="216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Training and Support Plan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967ED37F-AD01-25DC-5631-2244A00A772C}"/>
                </a:ext>
              </a:extLst>
            </p:cNvPr>
            <p:cNvSpPr/>
            <p:nvPr/>
          </p:nvSpPr>
          <p:spPr>
            <a:xfrm>
              <a:off x="776068" y="3402130"/>
              <a:ext cx="1822027" cy="216000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Stakeholder Mapping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A9319790-9B7B-9353-E686-4714F129A785}"/>
                </a:ext>
              </a:extLst>
            </p:cNvPr>
            <p:cNvSpPr/>
            <p:nvPr/>
          </p:nvSpPr>
          <p:spPr>
            <a:xfrm>
              <a:off x="776068" y="3021557"/>
              <a:ext cx="900436" cy="360000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Gap analysis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6FD2401A-F9EA-4F8A-6340-749113ECD609}"/>
                </a:ext>
              </a:extLst>
            </p:cNvPr>
            <p:cNvSpPr/>
            <p:nvPr/>
          </p:nvSpPr>
          <p:spPr>
            <a:xfrm>
              <a:off x="776067" y="4369953"/>
              <a:ext cx="11916000" cy="216000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Business case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0B003737-A130-189A-C8AE-8C25A6E563E1}"/>
                </a:ext>
              </a:extLst>
            </p:cNvPr>
            <p:cNvSpPr/>
            <p:nvPr/>
          </p:nvSpPr>
          <p:spPr>
            <a:xfrm>
              <a:off x="3828606" y="3188100"/>
              <a:ext cx="2769960" cy="216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MS Inclusive Design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4F2032A9-A305-48C9-A430-0A74D148A5A4}"/>
                </a:ext>
              </a:extLst>
            </p:cNvPr>
            <p:cNvSpPr/>
            <p:nvPr/>
          </p:nvSpPr>
          <p:spPr>
            <a:xfrm>
              <a:off x="6994063" y="3411964"/>
              <a:ext cx="1749571" cy="21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Service modelling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AC5CE241-D668-DBA8-206D-EA809794E5C2}"/>
                </a:ext>
              </a:extLst>
            </p:cNvPr>
            <p:cNvSpPr/>
            <p:nvPr/>
          </p:nvSpPr>
          <p:spPr>
            <a:xfrm>
              <a:off x="6994063" y="3654884"/>
              <a:ext cx="1749571" cy="21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Ecosystem Mapping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550EA0E8-8E0B-A943-47D5-95CFADB06BB5}"/>
                </a:ext>
              </a:extLst>
            </p:cNvPr>
            <p:cNvSpPr/>
            <p:nvPr/>
          </p:nvSpPr>
          <p:spPr>
            <a:xfrm>
              <a:off x="6994063" y="3891732"/>
              <a:ext cx="2675900" cy="233943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Service Blueprint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DD8F0ED5-B685-AA79-EDC7-5DC7B408CCE3}"/>
                </a:ext>
              </a:extLst>
            </p:cNvPr>
            <p:cNvSpPr/>
            <p:nvPr/>
          </p:nvSpPr>
          <p:spPr>
            <a:xfrm>
              <a:off x="8778453" y="3654236"/>
              <a:ext cx="2160000" cy="21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Risk storming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1996CDF5-7514-D73C-A739-9EABF6E9B10D}"/>
                </a:ext>
              </a:extLst>
            </p:cNvPr>
            <p:cNvSpPr/>
            <p:nvPr/>
          </p:nvSpPr>
          <p:spPr>
            <a:xfrm>
              <a:off x="8778453" y="3418645"/>
              <a:ext cx="2150462" cy="21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Team shapes and autonomy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6226F037-5905-01B6-40BA-8EF653E97A2F}"/>
                </a:ext>
              </a:extLst>
            </p:cNvPr>
            <p:cNvSpPr/>
            <p:nvPr/>
          </p:nvSpPr>
          <p:spPr>
            <a:xfrm>
              <a:off x="795316" y="7917887"/>
              <a:ext cx="900000" cy="521389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H01 Why?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1CEBF4A8-C370-C05C-96B6-DEAC5B0AF4A2}"/>
                </a:ext>
              </a:extLst>
            </p:cNvPr>
            <p:cNvSpPr/>
            <p:nvPr/>
          </p:nvSpPr>
          <p:spPr>
            <a:xfrm>
              <a:off x="1733966" y="7908964"/>
              <a:ext cx="935422" cy="521389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H02 Who?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E85B46AE-B318-4654-01EC-A5EF4CB2A66D}"/>
                </a:ext>
              </a:extLst>
            </p:cNvPr>
            <p:cNvSpPr/>
            <p:nvPr/>
          </p:nvSpPr>
          <p:spPr>
            <a:xfrm>
              <a:off x="2767255" y="7908964"/>
              <a:ext cx="972000" cy="521389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H03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Experience?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2" name="Rectangle: Rounded Corners 111">
              <a:extLst>
                <a:ext uri="{FF2B5EF4-FFF2-40B4-BE49-F238E27FC236}">
                  <a16:creationId xmlns:a16="http://schemas.microsoft.com/office/drawing/2014/main" id="{F66A3FBB-4A0C-D4E9-0E58-876D9DE27AB3}"/>
                </a:ext>
              </a:extLst>
            </p:cNvPr>
            <p:cNvSpPr/>
            <p:nvPr/>
          </p:nvSpPr>
          <p:spPr>
            <a:xfrm>
              <a:off x="3828606" y="7908964"/>
              <a:ext cx="935422" cy="521389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H04</a:t>
              </a:r>
            </a:p>
            <a:p>
              <a:pPr algn="ctr"/>
              <a:r>
                <a:rPr lang="en-US" sz="1155" b="1" dirty="0" err="1">
                  <a:solidFill>
                    <a:srgbClr val="292D30"/>
                  </a:solidFill>
                  <a:latin typeface="Arial Narrow" panose="020B0606020202030204" pitchFamily="34" charset="0"/>
                </a:rPr>
                <a:t>Communi</a:t>
              </a:r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-cation?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F04B6CCB-4F98-79E5-1778-7E5793E9951C}"/>
                </a:ext>
              </a:extLst>
            </p:cNvPr>
            <p:cNvSpPr/>
            <p:nvPr/>
          </p:nvSpPr>
          <p:spPr>
            <a:xfrm>
              <a:off x="4861617" y="7908964"/>
              <a:ext cx="792000" cy="521389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H05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Mastery or Task?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B51314C0-E90A-06B5-011C-D4B937929E15}"/>
                </a:ext>
              </a:extLst>
            </p:cNvPr>
            <p:cNvSpPr/>
            <p:nvPr/>
          </p:nvSpPr>
          <p:spPr>
            <a:xfrm>
              <a:off x="5699813" y="7908964"/>
              <a:ext cx="935422" cy="521389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H06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Learning preference?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7DFF6CFF-A584-9072-72D2-BB14422DB2A6}"/>
                </a:ext>
              </a:extLst>
            </p:cNvPr>
            <p:cNvSpPr/>
            <p:nvPr/>
          </p:nvSpPr>
          <p:spPr>
            <a:xfrm>
              <a:off x="6994063" y="7908964"/>
              <a:ext cx="720000" cy="521389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H07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Where?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4DA4DCD3-344E-17AB-5F6A-0B31E5D7CED7}"/>
                </a:ext>
              </a:extLst>
            </p:cNvPr>
            <p:cNvSpPr/>
            <p:nvPr/>
          </p:nvSpPr>
          <p:spPr>
            <a:xfrm>
              <a:off x="7736764" y="7908964"/>
              <a:ext cx="936000" cy="521389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H08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Workflows?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BEB95B8A-C669-D5E1-DB66-D2E977B6663C}"/>
                </a:ext>
              </a:extLst>
            </p:cNvPr>
            <p:cNvSpPr/>
            <p:nvPr/>
          </p:nvSpPr>
          <p:spPr>
            <a:xfrm>
              <a:off x="8778453" y="7908964"/>
              <a:ext cx="935422" cy="521389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H09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Risks?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865474E2-49F2-2B63-0D78-020B71CE71F2}"/>
                </a:ext>
              </a:extLst>
            </p:cNvPr>
            <p:cNvSpPr/>
            <p:nvPr/>
          </p:nvSpPr>
          <p:spPr>
            <a:xfrm>
              <a:off x="9749766" y="7908964"/>
              <a:ext cx="935422" cy="521389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H10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Autonomy?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E42C595E-6D40-49B7-F44F-6EE2ABD98AE5}"/>
                </a:ext>
              </a:extLst>
            </p:cNvPr>
            <p:cNvSpPr/>
            <p:nvPr/>
          </p:nvSpPr>
          <p:spPr>
            <a:xfrm>
              <a:off x="10748938" y="7908964"/>
              <a:ext cx="935422" cy="521389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H11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When?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9B8EC431-5885-D674-92AF-E10C4A0EFDCA}"/>
                </a:ext>
              </a:extLst>
            </p:cNvPr>
            <p:cNvSpPr/>
            <p:nvPr/>
          </p:nvSpPr>
          <p:spPr>
            <a:xfrm>
              <a:off x="11762056" y="7908964"/>
              <a:ext cx="935422" cy="521389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H12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How long?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BF37281D-A933-14C3-7DF8-5FD13372EF6F}"/>
                </a:ext>
              </a:extLst>
            </p:cNvPr>
            <p:cNvSpPr/>
            <p:nvPr/>
          </p:nvSpPr>
          <p:spPr>
            <a:xfrm>
              <a:off x="795316" y="9162929"/>
              <a:ext cx="900000" cy="360000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23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Why?</a:t>
              </a:r>
              <a:endParaRPr lang="en-GB" sz="2223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1A13FA06-0ACC-E7BF-EC5E-9D3DDA8544CD}"/>
                </a:ext>
              </a:extLst>
            </p:cNvPr>
            <p:cNvSpPr/>
            <p:nvPr/>
          </p:nvSpPr>
          <p:spPr>
            <a:xfrm>
              <a:off x="1753213" y="9143571"/>
              <a:ext cx="4968000" cy="360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23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Who?</a:t>
              </a:r>
              <a:endParaRPr lang="en-GB" sz="2223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933094E3-42C0-65A2-0AD1-DADC99803258}"/>
                </a:ext>
              </a:extLst>
            </p:cNvPr>
            <p:cNvSpPr/>
            <p:nvPr/>
          </p:nvSpPr>
          <p:spPr>
            <a:xfrm>
              <a:off x="6994063" y="9124367"/>
              <a:ext cx="5760000" cy="360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23" b="1">
                  <a:solidFill>
                    <a:srgbClr val="292D30"/>
                  </a:solidFill>
                  <a:latin typeface="Arial Narrow" panose="020B0606020202030204" pitchFamily="34" charset="0"/>
                </a:rPr>
                <a:t>Context?</a:t>
              </a:r>
              <a:endParaRPr lang="en-GB" sz="2223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D4FC0D99-DBC9-CB09-7176-5E1E75DA52E3}"/>
                </a:ext>
              </a:extLst>
            </p:cNvPr>
            <p:cNvSpPr/>
            <p:nvPr/>
          </p:nvSpPr>
          <p:spPr>
            <a:xfrm rot="16200000">
              <a:off x="-444430" y="8352377"/>
              <a:ext cx="1571073" cy="692905"/>
            </a:xfrm>
            <a:prstGeom prst="roundRect">
              <a:avLst/>
            </a:prstGeom>
            <a:solidFill>
              <a:srgbClr val="176B72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rgbClr val="F6F4EF"/>
                  </a:solidFill>
                  <a:latin typeface="Arial Narrow" panose="020B0606020202030204" pitchFamily="34" charset="0"/>
                </a:rPr>
                <a:t>Themes, Keywords and alternatives</a:t>
              </a:r>
              <a:endParaRPr lang="en-GB" sz="1200" b="1" dirty="0">
                <a:solidFill>
                  <a:srgbClr val="F6F4EF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4" name="Rectangle: Rounded Corners 123">
              <a:extLst>
                <a:ext uri="{FF2B5EF4-FFF2-40B4-BE49-F238E27FC236}">
                  <a16:creationId xmlns:a16="http://schemas.microsoft.com/office/drawing/2014/main" id="{F6854846-844E-CCAF-6D49-243D3E47D4F1}"/>
                </a:ext>
              </a:extLst>
            </p:cNvPr>
            <p:cNvSpPr/>
            <p:nvPr/>
          </p:nvSpPr>
          <p:spPr>
            <a:xfrm>
              <a:off x="795316" y="8470728"/>
              <a:ext cx="900000" cy="576000"/>
            </a:xfrm>
            <a:prstGeom prst="roundRect">
              <a:avLst/>
            </a:prstGeom>
            <a:solidFill>
              <a:srgbClr val="6E9FB5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Why else?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Why not?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1CCFAD12-F3B8-9E16-A00D-5A600A07B987}"/>
                </a:ext>
              </a:extLst>
            </p:cNvPr>
            <p:cNvSpPr/>
            <p:nvPr/>
          </p:nvSpPr>
          <p:spPr>
            <a:xfrm>
              <a:off x="1753214" y="8470728"/>
              <a:ext cx="938865" cy="576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Who else?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Who not?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A5F4C798-C88F-2596-3050-9AFCCFF1AC66}"/>
                </a:ext>
              </a:extLst>
            </p:cNvPr>
            <p:cNvSpPr/>
            <p:nvPr/>
          </p:nvSpPr>
          <p:spPr>
            <a:xfrm>
              <a:off x="6994063" y="8470728"/>
              <a:ext cx="1728000" cy="57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Where else?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Where not?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7" name="Rectangle: Rounded Corners 126">
              <a:extLst>
                <a:ext uri="{FF2B5EF4-FFF2-40B4-BE49-F238E27FC236}">
                  <a16:creationId xmlns:a16="http://schemas.microsoft.com/office/drawing/2014/main" id="{31C212B9-E89F-6974-E3AA-88E79E589BB2}"/>
                </a:ext>
              </a:extLst>
            </p:cNvPr>
            <p:cNvSpPr/>
            <p:nvPr/>
          </p:nvSpPr>
          <p:spPr>
            <a:xfrm>
              <a:off x="10748938" y="8470728"/>
              <a:ext cx="1944000" cy="57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When else?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When not?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25C449FB-D440-C46B-0E2D-D004866D8F9C}"/>
                </a:ext>
              </a:extLst>
            </p:cNvPr>
            <p:cNvSpPr/>
            <p:nvPr/>
          </p:nvSpPr>
          <p:spPr>
            <a:xfrm>
              <a:off x="8778453" y="8470728"/>
              <a:ext cx="935422" cy="57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else?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not?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DCDD91B2-DD3C-D57D-49BF-3A9DFFB4B1DE}"/>
                </a:ext>
              </a:extLst>
            </p:cNvPr>
            <p:cNvSpPr/>
            <p:nvPr/>
          </p:nvSpPr>
          <p:spPr>
            <a:xfrm>
              <a:off x="9749766" y="8470728"/>
              <a:ext cx="935422" cy="576000"/>
            </a:xfrm>
            <a:prstGeom prst="roundRect">
              <a:avLst/>
            </a:prstGeom>
            <a:solidFill>
              <a:srgbClr val="A78DA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How else?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How not?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30" name="Rectangle: Rounded Corners 129">
              <a:extLst>
                <a:ext uri="{FF2B5EF4-FFF2-40B4-BE49-F238E27FC236}">
                  <a16:creationId xmlns:a16="http://schemas.microsoft.com/office/drawing/2014/main" id="{C544361E-14F5-53F7-FBE0-57A79B4423CD}"/>
                </a:ext>
              </a:extLst>
            </p:cNvPr>
            <p:cNvSpPr/>
            <p:nvPr/>
          </p:nvSpPr>
          <p:spPr>
            <a:xfrm>
              <a:off x="2767255" y="8470728"/>
              <a:ext cx="972000" cy="576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else?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What not?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0B0ED871-8E1C-FC4E-34FC-070679128B4C}"/>
                </a:ext>
              </a:extLst>
            </p:cNvPr>
            <p:cNvSpPr/>
            <p:nvPr/>
          </p:nvSpPr>
          <p:spPr>
            <a:xfrm>
              <a:off x="3828606" y="8470728"/>
              <a:ext cx="2852537" cy="576000"/>
            </a:xfrm>
            <a:prstGeom prst="roundRect">
              <a:avLst/>
            </a:prstGeom>
            <a:solidFill>
              <a:srgbClr val="8EAD98">
                <a:alpha val="50196"/>
              </a:srgbClr>
            </a:solidFill>
            <a:ln>
              <a:noFill/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How else? How not?</a:t>
              </a:r>
            </a:p>
            <a:p>
              <a:pPr algn="ctr"/>
              <a:r>
                <a:rPr lang="en-US" sz="1155" b="1" dirty="0">
                  <a:solidFill>
                    <a:srgbClr val="292D30"/>
                  </a:solidFill>
                  <a:latin typeface="Arial Narrow" panose="020B0606020202030204" pitchFamily="34" charset="0"/>
                </a:rPr>
                <a:t>Needs (accessibility) and Preferences (styles)</a:t>
              </a:r>
              <a:endParaRPr lang="en-GB" sz="1155" b="1" dirty="0">
                <a:solidFill>
                  <a:srgbClr val="292D30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12A4CA94-3840-1045-1F08-44B68CAD700F}"/>
                </a:ext>
              </a:extLst>
            </p:cNvPr>
            <p:cNvSpPr txBox="1"/>
            <p:nvPr/>
          </p:nvSpPr>
          <p:spPr>
            <a:xfrm>
              <a:off x="776068" y="5527710"/>
              <a:ext cx="1957189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User goals</a:t>
              </a:r>
              <a:endParaRPr lang="en-GB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BC74E01-F86F-A52B-52B9-AE35162C188F}"/>
                </a:ext>
              </a:extLst>
            </p:cNvPr>
            <p:cNvSpPr txBox="1"/>
            <p:nvPr/>
          </p:nvSpPr>
          <p:spPr>
            <a:xfrm>
              <a:off x="790937" y="4783957"/>
              <a:ext cx="828000" cy="442674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Arial Narrow" panose="020B0606020202030204" pitchFamily="34" charset="0"/>
                </a:rPr>
                <a:t>Freedom from Risk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C8F6192-C976-BD11-85A8-92B8E63FA4AE}"/>
                </a:ext>
              </a:extLst>
            </p:cNvPr>
            <p:cNvSpPr txBox="1"/>
            <p:nvPr/>
          </p:nvSpPr>
          <p:spPr>
            <a:xfrm>
              <a:off x="1733966" y="4771459"/>
              <a:ext cx="4839987" cy="216000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Satisfaction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8D1875DE-8259-FC75-B68A-3B1367BAC6DB}"/>
                </a:ext>
              </a:extLst>
            </p:cNvPr>
            <p:cNvSpPr txBox="1"/>
            <p:nvPr/>
          </p:nvSpPr>
          <p:spPr>
            <a:xfrm>
              <a:off x="2767255" y="5018803"/>
              <a:ext cx="5891536" cy="216000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Effectiveness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44655AD-10A2-3F75-6D15-2B4E887020FD}"/>
                </a:ext>
              </a:extLst>
            </p:cNvPr>
            <p:cNvSpPr txBox="1"/>
            <p:nvPr/>
          </p:nvSpPr>
          <p:spPr>
            <a:xfrm>
              <a:off x="3828606" y="5274680"/>
              <a:ext cx="2699889" cy="216000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Flexibility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D9CE2FA-F5FF-A4E7-0692-ABB61FBEEC1D}"/>
                </a:ext>
              </a:extLst>
            </p:cNvPr>
            <p:cNvSpPr txBox="1"/>
            <p:nvPr/>
          </p:nvSpPr>
          <p:spPr>
            <a:xfrm>
              <a:off x="3828605" y="5848634"/>
              <a:ext cx="2806629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Accessibility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BCAAB35-81A9-4DA8-E0B4-703470AB125B}"/>
                </a:ext>
              </a:extLst>
            </p:cNvPr>
            <p:cNvSpPr txBox="1"/>
            <p:nvPr/>
          </p:nvSpPr>
          <p:spPr>
            <a:xfrm>
              <a:off x="2767255" y="6505552"/>
              <a:ext cx="3831827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latin typeface="Arial Narrow" panose="020B0606020202030204" pitchFamily="34" charset="0"/>
                </a:defRPr>
              </a:lvl1pPr>
            </a:lstStyle>
            <a:p>
              <a:r>
                <a:rPr lang="en-US"/>
                <a:t>User Error protection</a:t>
              </a:r>
              <a:endParaRPr lang="en-US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3F04F7F-F5B7-296E-A32E-8467B21CAE38}"/>
                </a:ext>
              </a:extLst>
            </p:cNvPr>
            <p:cNvSpPr txBox="1"/>
            <p:nvPr/>
          </p:nvSpPr>
          <p:spPr>
            <a:xfrm>
              <a:off x="6994063" y="4747519"/>
              <a:ext cx="5688000" cy="252000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Context coverage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A7CA396-D01C-A14C-8539-426BB4CAE993}"/>
                </a:ext>
              </a:extLst>
            </p:cNvPr>
            <p:cNvSpPr txBox="1"/>
            <p:nvPr/>
          </p:nvSpPr>
          <p:spPr>
            <a:xfrm>
              <a:off x="6994063" y="5527708"/>
              <a:ext cx="4883258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Arial Narrow" panose="020B0606020202030204" pitchFamily="34" charset="0"/>
                </a:rPr>
                <a:t>Operability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615DC477-DC9E-79EE-60C7-61FB3C17C731}"/>
                </a:ext>
              </a:extLst>
            </p:cNvPr>
            <p:cNvSpPr txBox="1"/>
            <p:nvPr/>
          </p:nvSpPr>
          <p:spPr>
            <a:xfrm>
              <a:off x="6994063" y="7267825"/>
              <a:ext cx="1692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Functionality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26619B37-B12D-4454-53CC-72415EFC1A13}"/>
                </a:ext>
              </a:extLst>
            </p:cNvPr>
            <p:cNvSpPr txBox="1"/>
            <p:nvPr/>
          </p:nvSpPr>
          <p:spPr>
            <a:xfrm>
              <a:off x="8778453" y="5017831"/>
              <a:ext cx="828000" cy="442674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Freedom </a:t>
              </a:r>
            </a:p>
            <a:p>
              <a:r>
                <a:rPr lang="en-US" dirty="0"/>
                <a:t>from Risk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8BDF0AB-6A3B-6DF9-C897-6E585188A287}"/>
                </a:ext>
              </a:extLst>
            </p:cNvPr>
            <p:cNvSpPr txBox="1"/>
            <p:nvPr/>
          </p:nvSpPr>
          <p:spPr>
            <a:xfrm>
              <a:off x="8778453" y="7512736"/>
              <a:ext cx="936000" cy="252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spcAft>
                  <a:spcPts val="400"/>
                </a:spcAft>
                <a:defRPr sz="1000" b="1" i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defRPr>
              </a:lvl1pPr>
            </a:lstStyle>
            <a:p>
              <a:r>
                <a:rPr lang="en-GB" dirty="0"/>
                <a:t>Scalability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79DBC56-5264-80DD-6B38-8F45ABBBD638}"/>
                </a:ext>
              </a:extLst>
            </p:cNvPr>
            <p:cNvSpPr txBox="1"/>
            <p:nvPr/>
          </p:nvSpPr>
          <p:spPr>
            <a:xfrm>
              <a:off x="9749766" y="5273784"/>
              <a:ext cx="936000" cy="216000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GB" dirty="0"/>
                <a:t> </a:t>
              </a:r>
              <a:r>
                <a:rPr lang="en-US" dirty="0"/>
                <a:t>Flexibility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8446ED8-A64A-2749-EEFC-04DA0CBCAC5E}"/>
                </a:ext>
              </a:extLst>
            </p:cNvPr>
            <p:cNvSpPr txBox="1"/>
            <p:nvPr/>
          </p:nvSpPr>
          <p:spPr>
            <a:xfrm>
              <a:off x="7736764" y="6750526"/>
              <a:ext cx="1908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GB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Security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D4F01ED-AA15-3334-0547-6BCB3C90A568}"/>
                </a:ext>
              </a:extLst>
            </p:cNvPr>
            <p:cNvSpPr txBox="1"/>
            <p:nvPr/>
          </p:nvSpPr>
          <p:spPr>
            <a:xfrm>
              <a:off x="10748938" y="5034547"/>
              <a:ext cx="933197" cy="252000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GB" dirty="0"/>
                <a:t>Efficiency </a:t>
              </a:r>
            </a:p>
            <a:p>
              <a:endParaRPr lang="en-GB" dirty="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6EF8668D-E110-EDEE-2B10-F3AB92977A28}"/>
                </a:ext>
              </a:extLst>
            </p:cNvPr>
            <p:cNvSpPr txBox="1"/>
            <p:nvPr/>
          </p:nvSpPr>
          <p:spPr>
            <a:xfrm>
              <a:off x="10748938" y="6741298"/>
              <a:ext cx="1080000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Performance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434F600-E40E-413C-A477-F7F774B394A2}"/>
                </a:ext>
              </a:extLst>
            </p:cNvPr>
            <p:cNvSpPr txBox="1"/>
            <p:nvPr/>
          </p:nvSpPr>
          <p:spPr>
            <a:xfrm>
              <a:off x="11869478" y="5016272"/>
              <a:ext cx="828000" cy="442674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Freedom </a:t>
              </a:r>
            </a:p>
            <a:p>
              <a:r>
                <a:rPr lang="en-US" dirty="0"/>
                <a:t>from Risk</a:t>
              </a:r>
              <a:endParaRPr lang="en-GB" dirty="0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85279A64-FAB4-1D63-ED90-EE4C94FF8B8F}"/>
                </a:ext>
              </a:extLst>
            </p:cNvPr>
            <p:cNvSpPr txBox="1"/>
            <p:nvPr/>
          </p:nvSpPr>
          <p:spPr>
            <a:xfrm>
              <a:off x="11880148" y="6766564"/>
              <a:ext cx="792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GB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Portability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A628ED6-F4A3-9560-E44D-6F355D4A7755}"/>
                </a:ext>
              </a:extLst>
            </p:cNvPr>
            <p:cNvSpPr txBox="1"/>
            <p:nvPr/>
          </p:nvSpPr>
          <p:spPr>
            <a:xfrm>
              <a:off x="-24594" y="4768981"/>
              <a:ext cx="756000" cy="769501"/>
            </a:xfrm>
            <a:prstGeom prst="roundRect">
              <a:avLst/>
            </a:prstGeom>
            <a:solidFill>
              <a:srgbClr val="176B72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6F4EF"/>
                  </a:solidFill>
                  <a:latin typeface="Arial Narrow" panose="020B0606020202030204" pitchFamily="34" charset="0"/>
                </a:rPr>
                <a:t>Quality in Use Attributes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96FB397-DCFD-EBA8-5683-1D2F1D2C6482}"/>
                </a:ext>
              </a:extLst>
            </p:cNvPr>
            <p:cNvSpPr txBox="1"/>
            <p:nvPr/>
          </p:nvSpPr>
          <p:spPr>
            <a:xfrm>
              <a:off x="-24594" y="5560962"/>
              <a:ext cx="756000" cy="2066299"/>
            </a:xfrm>
            <a:prstGeom prst="roundRect">
              <a:avLst/>
            </a:prstGeom>
            <a:solidFill>
              <a:srgbClr val="176B72"/>
            </a:solidFill>
            <a:ln>
              <a:noFill/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sz="1200" b="1">
                  <a:solidFill>
                    <a:srgbClr val="F6F4EF"/>
                  </a:solidFill>
                  <a:latin typeface="Arial Narrow" panose="020B060602020203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/>
                <a:t>Product Quality </a:t>
              </a:r>
              <a:r>
                <a:rPr lang="en-US" dirty="0" err="1"/>
                <a:t>Attri-butes</a:t>
              </a:r>
              <a:endParaRPr lang="en-US" dirty="0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DEF4AD8D-A577-C390-231D-09471E0A171A}"/>
                </a:ext>
              </a:extLst>
            </p:cNvPr>
            <p:cNvCxnSpPr>
              <a:cxnSpLocks/>
            </p:cNvCxnSpPr>
            <p:nvPr/>
          </p:nvCxnSpPr>
          <p:spPr>
            <a:xfrm>
              <a:off x="228711" y="4699700"/>
              <a:ext cx="12397222" cy="0"/>
            </a:xfrm>
            <a:prstGeom prst="line">
              <a:avLst/>
            </a:prstGeom>
            <a:ln w="28575">
              <a:solidFill>
                <a:srgbClr val="176B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99FE9CD-38B8-2341-5844-25276F629657}"/>
                </a:ext>
              </a:extLst>
            </p:cNvPr>
            <p:cNvSpPr txBox="1"/>
            <p:nvPr/>
          </p:nvSpPr>
          <p:spPr>
            <a:xfrm>
              <a:off x="9749766" y="5018670"/>
              <a:ext cx="936000" cy="216000"/>
            </a:xfrm>
            <a:prstGeom prst="roundRect">
              <a:avLst/>
            </a:prstGeom>
            <a:solidFill>
              <a:srgbClr val="47768B"/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solidFill>
                    <a:schemeClr val="bg1"/>
                  </a:solidFill>
                  <a:latin typeface="Arial Narrow" panose="020B0606020202030204" pitchFamily="34" charset="0"/>
                </a:defRPr>
              </a:lvl1pPr>
            </a:lstStyle>
            <a:p>
              <a:r>
                <a:rPr lang="en-GB" dirty="0"/>
                <a:t>Satisfaction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A1E3D31-AC0E-328A-69C0-771AAD3C2C93}"/>
                </a:ext>
              </a:extLst>
            </p:cNvPr>
            <p:cNvSpPr txBox="1"/>
            <p:nvPr/>
          </p:nvSpPr>
          <p:spPr>
            <a:xfrm>
              <a:off x="2767255" y="5527710"/>
              <a:ext cx="3934515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Learnability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C53BDC20-5EAC-2B41-0E8A-254BE89D8BE1}"/>
                </a:ext>
              </a:extLst>
            </p:cNvPr>
            <p:cNvSpPr txBox="1"/>
            <p:nvPr/>
          </p:nvSpPr>
          <p:spPr>
            <a:xfrm>
              <a:off x="1733965" y="6214668"/>
              <a:ext cx="4839987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latin typeface="Arial Narrow" panose="020B0606020202030204" pitchFamily="34" charset="0"/>
                </a:defRPr>
              </a:lvl1pPr>
            </a:lstStyle>
            <a:p>
              <a:r>
                <a:rPr lang="en-US"/>
                <a:t>Recognizability</a:t>
              </a:r>
              <a:endParaRPr lang="en-US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AE70194-2BD4-DB99-FFBC-6B9921B6836B}"/>
                </a:ext>
              </a:extLst>
            </p:cNvPr>
            <p:cNvSpPr txBox="1"/>
            <p:nvPr/>
          </p:nvSpPr>
          <p:spPr>
            <a:xfrm>
              <a:off x="776068" y="5848633"/>
              <a:ext cx="2697412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 b="1">
                  <a:latin typeface="Arial Narrow" panose="020B0606020202030204" pitchFamily="34" charset="0"/>
                </a:defRPr>
              </a:lvl1pPr>
            </a:lstStyle>
            <a:p>
              <a:r>
                <a:rPr lang="en-US" dirty="0"/>
                <a:t>Appropriateness</a:t>
              </a:r>
              <a:endParaRPr lang="en-GB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060520AF-98D3-223B-7F4F-8A696BA47231}"/>
                </a:ext>
              </a:extLst>
            </p:cNvPr>
            <p:cNvSpPr txBox="1"/>
            <p:nvPr/>
          </p:nvSpPr>
          <p:spPr>
            <a:xfrm>
              <a:off x="6994063" y="5773816"/>
              <a:ext cx="4869867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Arial Narrow" panose="020B0606020202030204" pitchFamily="34" charset="0"/>
                </a:rPr>
                <a:t>Appropriateness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18F0E90-CC51-F268-CF95-74DB796D425B}"/>
                </a:ext>
              </a:extLst>
            </p:cNvPr>
            <p:cNvSpPr txBox="1"/>
            <p:nvPr/>
          </p:nvSpPr>
          <p:spPr>
            <a:xfrm>
              <a:off x="6994063" y="6032059"/>
              <a:ext cx="1764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Arial Narrow" panose="020B0606020202030204" pitchFamily="34" charset="0"/>
                </a:rPr>
                <a:t>User goals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93D9B267-AB62-6FD4-5431-706C50C28B53}"/>
                </a:ext>
              </a:extLst>
            </p:cNvPr>
            <p:cNvSpPr txBox="1"/>
            <p:nvPr/>
          </p:nvSpPr>
          <p:spPr>
            <a:xfrm>
              <a:off x="8778453" y="6032059"/>
              <a:ext cx="1800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Arial Narrow" panose="020B0606020202030204" pitchFamily="34" charset="0"/>
                </a:rPr>
                <a:t>Accessibility</a:t>
              </a: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6F9BC8A-7B06-8B07-70C4-55268DEF3DC7}"/>
                </a:ext>
              </a:extLst>
            </p:cNvPr>
            <p:cNvSpPr txBox="1"/>
            <p:nvPr/>
          </p:nvSpPr>
          <p:spPr>
            <a:xfrm>
              <a:off x="6994063" y="6513004"/>
              <a:ext cx="5652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GB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Maintainability.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2EEFEADF-6278-F248-E835-D66B921FD365}"/>
                </a:ext>
              </a:extLst>
            </p:cNvPr>
            <p:cNvSpPr txBox="1"/>
            <p:nvPr/>
          </p:nvSpPr>
          <p:spPr>
            <a:xfrm>
              <a:off x="7736764" y="6270870"/>
              <a:ext cx="1044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Arial Narrow" panose="020B0606020202030204" pitchFamily="34" charset="0"/>
                </a:rPr>
                <a:t>Recognizability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EABD67BE-5655-F924-B375-6B7A4657F4FA}"/>
                </a:ext>
              </a:extLst>
            </p:cNvPr>
            <p:cNvSpPr txBox="1"/>
            <p:nvPr/>
          </p:nvSpPr>
          <p:spPr>
            <a:xfrm>
              <a:off x="10748938" y="6270870"/>
              <a:ext cx="1044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latin typeface="Arial Narrow" panose="020B0606020202030204" pitchFamily="34" charset="0"/>
                </a:rPr>
                <a:t>Recognizability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23B5183-3EE7-43B2-56D9-EF9416C4A415}"/>
                </a:ext>
              </a:extLst>
            </p:cNvPr>
            <p:cNvSpPr txBox="1"/>
            <p:nvPr/>
          </p:nvSpPr>
          <p:spPr>
            <a:xfrm>
              <a:off x="6994063" y="7002158"/>
              <a:ext cx="1656000" cy="216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Compatibility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095FC556-2E70-9047-18D6-8FBC7FD50538}"/>
                </a:ext>
              </a:extLst>
            </p:cNvPr>
            <p:cNvSpPr txBox="1"/>
            <p:nvPr/>
          </p:nvSpPr>
          <p:spPr>
            <a:xfrm>
              <a:off x="10748938" y="7317703"/>
              <a:ext cx="1080000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Reliability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9163CB1D-B0D5-FCC0-475D-E78F8ADC7E3A}"/>
                </a:ext>
              </a:extLst>
            </p:cNvPr>
            <p:cNvSpPr txBox="1"/>
            <p:nvPr/>
          </p:nvSpPr>
          <p:spPr>
            <a:xfrm>
              <a:off x="10748938" y="7032052"/>
              <a:ext cx="1080000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Compatibility</a:t>
              </a: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1E4D7EDA-11F3-FF34-3F17-9E7A419351FE}"/>
                </a:ext>
              </a:extLst>
            </p:cNvPr>
            <p:cNvSpPr txBox="1"/>
            <p:nvPr/>
          </p:nvSpPr>
          <p:spPr>
            <a:xfrm>
              <a:off x="8778453" y="6985138"/>
              <a:ext cx="936000" cy="252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Performance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6534F28-BE2E-48AC-AC5D-F741FB19EFC5}"/>
                </a:ext>
              </a:extLst>
            </p:cNvPr>
            <p:cNvSpPr txBox="1"/>
            <p:nvPr/>
          </p:nvSpPr>
          <p:spPr>
            <a:xfrm>
              <a:off x="8778453" y="7244780"/>
              <a:ext cx="936000" cy="252000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US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Reliability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A0EABAE-9C45-4E77-2F4C-63B05E1C7FF3}"/>
                </a:ext>
              </a:extLst>
            </p:cNvPr>
            <p:cNvSpPr txBox="1"/>
            <p:nvPr/>
          </p:nvSpPr>
          <p:spPr>
            <a:xfrm>
              <a:off x="11858486" y="7037594"/>
              <a:ext cx="792000" cy="272415"/>
            </a:xfrm>
            <a:prstGeom prst="roundRect">
              <a:avLst/>
            </a:prstGeom>
            <a:solidFill>
              <a:srgbClr val="47768B">
                <a:alpha val="76863"/>
              </a:srgb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>
                <a:spcAft>
                  <a:spcPts val="400"/>
                </a:spcAft>
              </a:pPr>
              <a:r>
                <a:rPr lang="en-GB" sz="1000" b="1" i="0" dirty="0">
                  <a:solidFill>
                    <a:srgbClr val="1F2328"/>
                  </a:solidFill>
                  <a:effectLst/>
                  <a:latin typeface="Arial Narrow" panose="020B0606020202030204" pitchFamily="34" charset="0"/>
                </a:rPr>
                <a:t>Scalability</a:t>
              </a:r>
              <a:endParaRPr lang="en-GB" sz="1000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AA82959-23DC-76D7-0831-DAF83B0E10CD}"/>
                </a:ext>
              </a:extLst>
            </p:cNvPr>
            <p:cNvCxnSpPr>
              <a:cxnSpLocks/>
            </p:cNvCxnSpPr>
            <p:nvPr/>
          </p:nvCxnSpPr>
          <p:spPr>
            <a:xfrm>
              <a:off x="131732" y="7802234"/>
              <a:ext cx="12397222" cy="0"/>
            </a:xfrm>
            <a:prstGeom prst="line">
              <a:avLst/>
            </a:prstGeom>
            <a:ln w="28575">
              <a:solidFill>
                <a:srgbClr val="176B7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14" name="Picture 213">
              <a:extLst>
                <a:ext uri="{FF2B5EF4-FFF2-40B4-BE49-F238E27FC236}">
                  <a16:creationId xmlns:a16="http://schemas.microsoft.com/office/drawing/2014/main" id="{ED88F629-82C6-F8AC-FBF8-1F8030E14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4594" y="-7861"/>
              <a:ext cx="1463195" cy="468000"/>
            </a:xfrm>
            <a:prstGeom prst="rect">
              <a:avLst/>
            </a:prstGeom>
          </p:spPr>
        </p:pic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13347210-778A-ABFC-DCC7-2AF292AA57E1}"/>
                </a:ext>
              </a:extLst>
            </p:cNvPr>
            <p:cNvSpPr txBox="1"/>
            <p:nvPr/>
          </p:nvSpPr>
          <p:spPr>
            <a:xfrm>
              <a:off x="1621124" y="283868"/>
              <a:ext cx="5760720" cy="187744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sz="1100" b="1" dirty="0">
                  <a:solidFill>
                    <a:srgbClr val="176B72"/>
                  </a:solidFill>
                  <a:latin typeface="Trebuchet MS"/>
                </a:rPr>
                <a:t>Better questions. Better decisions.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34E76F2D-1A71-9906-9C85-02CE7E1CBB5D}"/>
                </a:ext>
              </a:extLst>
            </p:cNvPr>
            <p:cNvSpPr txBox="1"/>
            <p:nvPr/>
          </p:nvSpPr>
          <p:spPr>
            <a:xfrm>
              <a:off x="1618937" y="51107"/>
              <a:ext cx="5760720" cy="187744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176B72"/>
                  </a:solidFill>
                  <a:latin typeface="Trebuchet MS"/>
                </a:rPr>
                <a:t>Influencing the design-evaluation and acquisition of tools to support testing</a:t>
              </a:r>
              <a:endParaRPr sz="1100" b="1" dirty="0">
                <a:solidFill>
                  <a:srgbClr val="176B72"/>
                </a:solidFill>
                <a:latin typeface="Trebuchet MS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7786225D-3C0A-B61D-2A25-DDECBB45733C}"/>
                </a:ext>
              </a:extLst>
            </p:cNvPr>
            <p:cNvSpPr txBox="1"/>
            <p:nvPr/>
          </p:nvSpPr>
          <p:spPr>
            <a:xfrm>
              <a:off x="8879174" y="148737"/>
              <a:ext cx="5760720" cy="29546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lstStyle/>
            <a:p>
              <a:r>
                <a:rPr lang="en-US" sz="900" b="1" dirty="0">
                  <a:solidFill>
                    <a:srgbClr val="176B72"/>
                  </a:solidFill>
                  <a:latin typeface="Trebuchet MS"/>
                </a:rPr>
                <a:t>GitHub: </a:t>
              </a:r>
              <a:r>
                <a:rPr lang="en-US" sz="900" b="1" dirty="0">
                  <a:solidFill>
                    <a:srgbClr val="176B72"/>
                  </a:solidFill>
                  <a:latin typeface="Trebuchet MS"/>
                  <a:hlinkClick r:id="rId4"/>
                </a:rPr>
                <a:t>https://github.com/hci-lab-um/heuristics-for-test-tool-design</a:t>
              </a:r>
              <a:endParaRPr lang="en-US" sz="900" b="1" dirty="0">
                <a:solidFill>
                  <a:srgbClr val="176B72"/>
                </a:solidFill>
                <a:latin typeface="Trebuchet MS"/>
              </a:endParaRPr>
            </a:p>
            <a:p>
              <a:r>
                <a:rPr lang="en-US" sz="900" b="1" dirty="0">
                  <a:solidFill>
                    <a:srgbClr val="176B72"/>
                  </a:solidFill>
                  <a:latin typeface="Trebuchet MS"/>
                </a:rPr>
                <a:t>Designed by Dr Isabel Evans, at University of Malta </a:t>
              </a:r>
              <a:endParaRPr sz="900" b="1" dirty="0">
                <a:solidFill>
                  <a:srgbClr val="176B72"/>
                </a:solidFill>
                <a:latin typeface="Trebuchet MS"/>
              </a:endParaRPr>
            </a:p>
          </p:txBody>
        </p:sp>
      </p:grpSp>
      <p:sp>
        <p:nvSpPr>
          <p:cNvPr id="5" name="Title 4" descr="Idea-t A3 poster">
            <a:extLst>
              <a:ext uri="{FF2B5EF4-FFF2-40B4-BE49-F238E27FC236}">
                <a16:creationId xmlns:a16="http://schemas.microsoft.com/office/drawing/2014/main" id="{CB2FB28C-ACD4-5016-4DC5-F3D2D04F24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80110" y="-1855788"/>
            <a:ext cx="11041380" cy="18557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Idea-t A3 poster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466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911</TotalTime>
  <Words>1636</Words>
  <Application>Microsoft Office PowerPoint</Application>
  <PresentationFormat>A3 Paper (297x420 mm)</PresentationFormat>
  <Paragraphs>233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Arial Narrow</vt:lpstr>
      <vt:lpstr>Trebuchet MS</vt:lpstr>
      <vt:lpstr>Office Theme</vt:lpstr>
      <vt:lpstr>Idea-t v2 Poster sized to A3 landscape </vt:lpstr>
      <vt:lpstr>Idea-t A3 poster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Isabel Evans</dc:creator>
  <cp:lastModifiedBy>Isabel Evans</cp:lastModifiedBy>
  <cp:revision>36</cp:revision>
  <dcterms:created xsi:type="dcterms:W3CDTF">2024-12-13T08:34:16Z</dcterms:created>
  <dcterms:modified xsi:type="dcterms:W3CDTF">2026-10-26T12:19:17Z</dcterms:modified>
</cp:coreProperties>
</file>